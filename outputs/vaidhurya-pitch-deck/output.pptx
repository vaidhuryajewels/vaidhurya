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ecd24689f94d18" /><Relationship Type="http://schemas.openxmlformats.org/officeDocument/2006/relationships/extended-properties" Target="/docProps/app.xml" Id="R2b116d2da0014140" /><Relationship Type="http://schemas.openxmlformats.org/officeDocument/2006/relationships/officeDocument" Target="/ppt/presentation.xml" Id="Rec39db80c6294d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75c6d622d2467f"/>
  </p:sldMasterIdLst>
  <p:notesMasterIdLst>
    <p:notesMasterId xmlns:r="http://schemas.openxmlformats.org/officeDocument/2006/relationships" r:id="R29d5b3806b884894"/>
  </p:notesMasterIdLst>
  <p:sldIdLst>
    <p:sldId xmlns:r="http://schemas.openxmlformats.org/officeDocument/2006/relationships" id="256" r:id="R73541b6d8b2f4498"/>
    <p:sldId xmlns:r="http://schemas.openxmlformats.org/officeDocument/2006/relationships" id="257" r:id="R8fd3e2a12c14456b"/>
    <p:sldId xmlns:r="http://schemas.openxmlformats.org/officeDocument/2006/relationships" id="258" r:id="Re6b85f02d87f49fe"/>
    <p:sldId xmlns:r="http://schemas.openxmlformats.org/officeDocument/2006/relationships" id="259" r:id="Rfbfcf55bf46c4fef"/>
    <p:sldId xmlns:r="http://schemas.openxmlformats.org/officeDocument/2006/relationships" id="260" r:id="R60af4e9210bc4453"/>
    <p:sldId xmlns:r="http://schemas.openxmlformats.org/officeDocument/2006/relationships" id="261" r:id="R20a2fbcca90640a8"/>
    <p:sldId xmlns:r="http://schemas.openxmlformats.org/officeDocument/2006/relationships" id="262" r:id="R21d10098d5d8458d"/>
    <p:sldId xmlns:r="http://schemas.openxmlformats.org/officeDocument/2006/relationships" id="263" r:id="Rf141e54890fe44b2"/>
    <p:sldId xmlns:r="http://schemas.openxmlformats.org/officeDocument/2006/relationships" id="264" r:id="Re5ea538ab9f645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5c6d622d2467f" /><Relationship Type="http://schemas.openxmlformats.org/officeDocument/2006/relationships/theme" Target="/ppt/theme/theme1.xml" Id="Ree3c4a1fc7d94279" /><Relationship Type="http://schemas.openxmlformats.org/officeDocument/2006/relationships/notesMaster" Target="/ppt/notesMasters/notesMaster1.xml" Id="R29d5b3806b884894" /><Relationship Type="http://schemas.openxmlformats.org/officeDocument/2006/relationships/presProps" Target="/ppt/presProps.xml" Id="R118630c09fab4da2" /><Relationship Type="http://schemas.openxmlformats.org/officeDocument/2006/relationships/viewProps" Target="/ppt/viewProps.xml" Id="Re4e6131d848a4579" /><Relationship Type="http://schemas.openxmlformats.org/officeDocument/2006/relationships/tableStyles" Target="/ppt/tableStyles.xml" Id="R9f6b1c1f7ef14d51" /><Relationship Type="http://schemas.openxmlformats.org/officeDocument/2006/relationships/slide" Target="/ppt/slides/slide1.xml" Id="R73541b6d8b2f4498" /><Relationship Type="http://schemas.openxmlformats.org/officeDocument/2006/relationships/slide" Target="/ppt/slides/slide2.xml" Id="R8fd3e2a12c14456b" /><Relationship Type="http://schemas.openxmlformats.org/officeDocument/2006/relationships/slide" Target="/ppt/slides/slide3.xml" Id="Re6b85f02d87f49fe" /><Relationship Type="http://schemas.openxmlformats.org/officeDocument/2006/relationships/slide" Target="/ppt/slides/slide4.xml" Id="Rfbfcf55bf46c4fef" /><Relationship Type="http://schemas.openxmlformats.org/officeDocument/2006/relationships/slide" Target="/ppt/slides/slide5.xml" Id="R60af4e9210bc4453" /><Relationship Type="http://schemas.openxmlformats.org/officeDocument/2006/relationships/slide" Target="/ppt/slides/slide6.xml" Id="R20a2fbcca90640a8" /><Relationship Type="http://schemas.openxmlformats.org/officeDocument/2006/relationships/slide" Target="/ppt/slides/slide7.xml" Id="R21d10098d5d8458d" /><Relationship Type="http://schemas.openxmlformats.org/officeDocument/2006/relationships/slide" Target="/ppt/slides/slide8.xml" Id="Rf141e54890fe44b2" /><Relationship Type="http://schemas.openxmlformats.org/officeDocument/2006/relationships/slide" Target="/ppt/slides/slide9.xml" Id="Re5ea538ab9f645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532992aff4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947b5051246fe" /><Relationship Type="http://schemas.openxmlformats.org/officeDocument/2006/relationships/notesMaster" Target="/ppt/notesMasters/notesMaster1.xml" Id="R3a3058585586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607046e194bac" /><Relationship Type="http://schemas.openxmlformats.org/officeDocument/2006/relationships/notesMaster" Target="/ppt/notesMasters/notesMaster1.xml" Id="R5922f6ef4f2a41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7f9ccaeada418a" /><Relationship Type="http://schemas.openxmlformats.org/officeDocument/2006/relationships/notesMaster" Target="/ppt/notesMasters/notesMaster1.xml" Id="R0be62e7094ee46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e9f683c794588" /><Relationship Type="http://schemas.openxmlformats.org/officeDocument/2006/relationships/notesMaster" Target="/ppt/notesMasters/notesMaster1.xml" Id="Rdc35bcdd8f6846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21c2c7151d4d81" /><Relationship Type="http://schemas.openxmlformats.org/officeDocument/2006/relationships/notesMaster" Target="/ppt/notesMasters/notesMaster1.xml" Id="R3b69b66bccaf4c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b6cdb60804889" /><Relationship Type="http://schemas.openxmlformats.org/officeDocument/2006/relationships/notesMaster" Target="/ppt/notesMasters/notesMaster1.xml" Id="R699921e63a0442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be21b4a8c34125" /><Relationship Type="http://schemas.openxmlformats.org/officeDocument/2006/relationships/notesMaster" Target="/ppt/notesMasters/notesMaster1.xml" Id="Rf8a1de259e9d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3094b021504471" /><Relationship Type="http://schemas.openxmlformats.org/officeDocument/2006/relationships/notesMaster" Target="/ppt/notesMasters/notesMaster1.xml" Id="R3ea578424c534f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8af09233764262" /><Relationship Type="http://schemas.openxmlformats.org/officeDocument/2006/relationships/notesMaster" Target="/ppt/notesMasters/notesMaster1.xml" Id="R1e93e90f87c3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VAIDHURYA as a premium, AI-native marketplace rather than a generic e-commerce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VAIDHURYA Commerce Architecture.</a:t>
            </a:r>
          </a:p>
          <a:p xmlns:a="http://schemas.openxmlformats.org/drawingml/2006/main">
            <a:r>
              <a:t>- Founder guidance from the working session: India jewelry market is fragmented and unorganized; team includes Venkatesha DP and Rishitha Adari.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problem as both a discovery problem and a trust problem, then position VAIDHURYA as the organizing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guidance from the working session: India jewelry market is fragmented and unorganized; team includes Venkatesha DP and Rishitha Adari.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word agentic concrete by describing how the system understands, decides, and improves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guidance from the working session: India jewelry market is fragmented and unorganized; team includes Venkatesha DP and Rishitha Adari.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make the buyer and seller loop feel operational, not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VAIDHURYA Commerce Architecture.</a:t>
            </a:r>
          </a:p>
          <a:p xmlns:a="http://schemas.openxmlformats.org/drawingml/2006/main">
            <a:r>
              <a:t>- Repository docs: architecture-overview.md.</a:t>
            </a:r>
          </a:p>
          <a:p xmlns:a="http://schemas.openxmlformats.org/drawingml/2006/main">
            <a:r>
              <a:t>- Repository docs: commerce-flows.md.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intentionally framed without invented GMV or user metrics. Replace with real numbers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VAIDHURYA Commerce Architecture.</a:t>
            </a:r>
          </a:p>
          <a:p xmlns:a="http://schemas.openxmlformats.org/drawingml/2006/main">
            <a:r>
              <a:t>- Deck framing uses placeholders for traction and fundraising details where numeric inputs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fuller bios become available, replace these summaries with sharper credibility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guidance from the working session: India jewelry market is fragmented and unorganized; team includes Venkatesha DP and Rishitha Adari.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the model is deeper than just commission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VAIDHURYA Commerce Architecture.</a:t>
            </a:r>
          </a:p>
          <a:p xmlns:a="http://schemas.openxmlformats.org/drawingml/2006/main">
            <a:r>
              <a:t>- Repository docs: commerce-flows.md.</a:t>
            </a:r>
          </a:p>
          <a:p xmlns:a="http://schemas.openxmlformats.org/drawingml/2006/main">
            <a:r>
              <a:t>- Founder guidance from the working session: India jewelry market is fragmented and unorganized; team includes Venkatesha DP and Rishitha Adari.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technology story practical and outcome-oriented rather than overly technical.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VAIDHURYA Commerce Architecture.</a:t>
            </a:r>
          </a:p>
          <a:p xmlns:a="http://schemas.openxmlformats.org/drawingml/2006/main">
            <a:r>
              <a:t>- Repository docs: architecture-overview.md.</a:t>
            </a:r>
          </a:p>
          <a:p xmlns:a="http://schemas.openxmlformats.org/drawingml/2006/main">
            <a:r>
              <a:t>- Repository docs: commerce-flows.md.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pre-seed placeholder with the exact amount and instrument before circulating to investors.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framing uses placeholders for traction and fundraising details where numeric inputs were not provided.</a:t>
            </a:r>
          </a:p>
          <a:p xmlns:a="http://schemas.openxmlformats.org/drawingml/2006/main">
            <a:r>
              <a:t>- Founder guidance from the working session: India jewelry market is fragmented and unorganized; team includes Venkatesha DP and Rishitha Adari.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326c1800246e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8898937-0906-44B2-A1B0-D8381832CC6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D4F0540-2C2F-4818-B1C2-9484C009DC2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CE6822-43FA-41ED-AF60-C27C5DC8329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9DF044-ECF3-4B8C-9A2B-562515472A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32a6329ba44d75" /><Relationship Type="http://schemas.openxmlformats.org/officeDocument/2006/relationships/slideLayout" Target="/ppt/slideLayouts/slideLayout2.xml" Id="R08936883980c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D0FC16-0887-498B-9D53-6E40F9C3F55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936883980c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557bb514546ed" /><Relationship Type="http://schemas.openxmlformats.org/officeDocument/2006/relationships/image" Target="/ppt/media/image.jpeg" Id="R3c5f7cc159564501" /><Relationship Type="http://schemas.openxmlformats.org/officeDocument/2006/relationships/image" Target="/ppt/media/image.png" Id="R2152c926a581413c" /><Relationship Type="http://schemas.openxmlformats.org/officeDocument/2006/relationships/notesSlide" Target="/ppt/notesSlides/notesSlide1.xml" Id="Rc2266acf265d46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aa5ba6d39410d" /><Relationship Type="http://schemas.openxmlformats.org/officeDocument/2006/relationships/image" Target="/ppt/media/image2.png" Id="R505ee90749f946e2" /><Relationship Type="http://schemas.openxmlformats.org/officeDocument/2006/relationships/notesSlide" Target="/ppt/notesSlides/notesSlide2.xml" Id="Ra5f93f7c8a5342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a656da9544106" /><Relationship Type="http://schemas.openxmlformats.org/officeDocument/2006/relationships/image" Target="/ppt/media/image3.png" Id="R4916d50ca67a437c" /><Relationship Type="http://schemas.openxmlformats.org/officeDocument/2006/relationships/notesSlide" Target="/ppt/notesSlides/notesSlide3.xml" Id="R2b1e42891c4a46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60d0ab39244be" /><Relationship Type="http://schemas.openxmlformats.org/officeDocument/2006/relationships/image" Target="/ppt/media/image4.png" Id="Rc2a40993047e4e8d" /><Relationship Type="http://schemas.openxmlformats.org/officeDocument/2006/relationships/notesSlide" Target="/ppt/notesSlides/notesSlide4.xml" Id="Reb2c06b819264e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358c09ef2a40f8" /><Relationship Type="http://schemas.openxmlformats.org/officeDocument/2006/relationships/image" Target="/ppt/media/image5.png" Id="R2570f4ff7eaf4b19" /><Relationship Type="http://schemas.openxmlformats.org/officeDocument/2006/relationships/notesSlide" Target="/ppt/notesSlides/notesSlide5.xml" Id="R5c922e37d871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903e280a4493b" /><Relationship Type="http://schemas.openxmlformats.org/officeDocument/2006/relationships/image" Target="/ppt/media/image6.png" Id="R295167b7c722413e" /><Relationship Type="http://schemas.openxmlformats.org/officeDocument/2006/relationships/notesSlide" Target="/ppt/notesSlides/notesSlide6.xml" Id="R528c3074fd494c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ca0eb5b48498b" /><Relationship Type="http://schemas.openxmlformats.org/officeDocument/2006/relationships/image" Target="/ppt/media/image7.png" Id="R2b3c7c403fbe4e23" /><Relationship Type="http://schemas.openxmlformats.org/officeDocument/2006/relationships/notesSlide" Target="/ppt/notesSlides/notesSlide7.xml" Id="R54ac7f9a92c546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fcbb531c24325" /><Relationship Type="http://schemas.openxmlformats.org/officeDocument/2006/relationships/image" Target="/ppt/media/image8.png" Id="Re5fa40cb7d764dca" /><Relationship Type="http://schemas.openxmlformats.org/officeDocument/2006/relationships/notesSlide" Target="/ppt/notesSlides/notesSlide8.xml" Id="Rd1edf40cb0bf44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734481989f4107" /><Relationship Type="http://schemas.openxmlformats.org/officeDocument/2006/relationships/image" Target="/ppt/media/image2.jpeg" Id="R557f810f96b043d5" /><Relationship Type="http://schemas.openxmlformats.org/officeDocument/2006/relationships/notesSlide" Target="/ppt/notesSlides/notesSlide9.xml" Id="Raae8162b38c4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35BC2-15A3-4AD2-AB32-BC33451F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6B720-1358-457F-BF8A-80CCC87B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62BD0-7BC1-47B3-9D38-B67E873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B99E0-D270-4024-828D-96C93F2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0"/>
            <a:ext cx="455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EDCB0-3D5C-480F-91DE-F100619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B4C46-2FEE-4E24-A33B-8EC55DC1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04850"/>
            <a:ext cx="3581400" cy="54483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00697-DC60-4B8A-A3F9-5D62E09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04850"/>
            <a:ext cx="7620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7cc159564501"/>
          <a:srcRect xmlns:a="http://schemas.openxmlformats.org/drawingml/2006/main" l="17626" t="0" r="176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781050"/>
            <a:ext cx="3429000" cy="5295900"/>
          </a:xfrm>
          <a:prstGeom xmlns:a="http://schemas.openxmlformats.org/drawingml/2006/main" prst="round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2c926a581413c"/>
          <a:stretch xmlns:a="http://schemas.openxmlformats.org/drawingml/2006/main"/>
        </p:blipFill>
        <p:spPr>
          <a:xfrm xmlns:a="http://schemas.openxmlformats.org/drawingml/2006/main">
            <a:off x="1425657" y="419100"/>
            <a:ext cx="1092036" cy="876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B1CD9-2CF7-4E28-8EDC-10AC846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619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201A"/>
                </a:solidFill>
              </a:defRPr>
            </a:pPr>
            <a:r>
              <a:rPr sz="3600" b="1">
                <a:solidFill>
                  <a:srgbClr val="2A201A"/>
                </a:solidFill>
              </a:rPr>
              <a:t>AI-Native Marketplace for Jewelry in India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DC1A7-1971-4A2C-9276-D85ACB61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473D"/>
                </a:solidFill>
              </a:defRPr>
            </a:pPr>
            <a:r>
              <a:rPr sz="1500" b="0">
                <a:solidFill>
                  <a:srgbClr val="57473D"/>
                </a:solidFill>
              </a:rPr>
              <a:t>A trusted multi-seller platform for metal, diamond, and gemstone jewelry, personalized through outfit-led AI styling recommendations.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F8D47-74FE-4A24-8D01-E3A2474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00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B0B1B-34B8-4BF4-8F60-F75547FD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201A"/>
                </a:solidFill>
              </a:defRPr>
            </a:pPr>
            <a:r>
              <a:rPr sz="1725" b="1">
                <a:solidFill>
                  <a:srgbClr val="2A201A"/>
                </a:solidFill>
              </a:rPr>
              <a:t>Premium commerce. Personalized by 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FDE90-6A9E-4F1A-BE4A-90E54BBB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1168774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9514-789C-44B4-8406-AF31F36B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8CB8D-6373-4A52-BC6C-033A184C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55B18-F726-4FEB-B5D5-D5275602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DE890-FB00-4C62-842F-1243137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2705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D4B41-8D0A-4796-B9C2-91257067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ee90749f946e2"/>
          <a:srcRect xmlns:a="http://schemas.openxmlformats.org/drawingml/2006/main" l="0" t="25622" r="0" b="25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895350"/>
            <a:ext cx="2552700" cy="18669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3CA3E-CA22-4EB6-ADF9-F9E16B5B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PROBLEM + 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33BDC-3B25-457F-B010-1E3E34DF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02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1BA7-B971-40B8-992A-4839DEF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DBAAC-4D08-442A-B4CC-B3351166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681D5-0F6E-4B7A-B372-BEEE0845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Fragmented Market, Personalized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0BCE0-B3E8-46EA-A312-0AB8EBB1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India's jewelry market is still trust-heavy, fragmented, and difficult to personalize online.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BCF4B-3424-4475-B633-B802DCD0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4434D-A937-4790-ABD3-1D710546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FC4CF-AE99-4C98-A6D5-677C3535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9D1C1-3E64-44E3-9584-703530C7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D3231-0B0A-4148-B9F8-0807560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BD094-4ED2-440A-925F-1F86F6F6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52475-0550-4742-8436-E1588754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Buyer Pain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60B59-A904-4E04-A4E2-9C89EFF5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Discovery is inconsistent across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metal, diamond, and gemstone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categories, and shoppers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struggle to match jewelry to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outfit, occasion, and budget.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F240C-0411-4956-9D9E-BB41097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D21F9-7E6B-4162-81CC-0780B69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24C45-428C-4C70-AD11-4747967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C3D23-572D-409C-AAD0-4052DEC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ED08D-7779-4A5D-8E27-3810B08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38554-71EC-476C-B50F-A6A3FD5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583FF-DEA7-4FBA-BF14-934F7A29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Seller Pain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320BD-C4DB-4368-82BF-DE69557C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Independent sellers have limited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digital visibility, uneven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merchandising, and high customer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acquisition friction in a market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still led by offline trust.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EA089-2393-4246-B282-9D5A6354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2C25FB-FFD2-45F4-9242-A4EBC3FE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5CC53-30FE-4AB1-89FE-266B969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65474-C170-4269-A181-E13F0E5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DBCF90-B66A-4BB8-AF60-D8E07CC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656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CFA165-2878-43AE-BF6A-5551C7A7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251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823F2-17A2-4BCE-A1F5-CD0070A9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VAIDHURYA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FA1018-A37D-418D-9CED-8E38EB1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 trusted multi-seller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marketplace that combines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premium commerce with AI-led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recommendations tailored to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dress, style, occasion, 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spend.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B6EB1-A84B-4FAE-A988-F0AA949A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134410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E60D-5AFD-4EDA-A805-411CB060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45B0-7D81-4F82-B1DC-C93196D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32006-48C3-40EE-9D51-A6B624D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B0C2D-C4B2-4F7C-8580-B7FC48B7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2705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214D1-1151-4181-9604-692BFC15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6d50ca67a437c"/>
          <a:srcRect xmlns:a="http://schemas.openxmlformats.org/drawingml/2006/main" l="0" t="25622" r="0" b="25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895350"/>
            <a:ext cx="2552700" cy="18669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5A2B6-419F-4F9C-8C26-5803E8C7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AGENTIC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8BDEC-DEEA-49BD-9577-1F67E3C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03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94392-CB7B-4478-A8F4-5D4B507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BB858-E465-452F-BE22-4EC7DB0A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5353F-90DA-4BEB-B855-B9FC7171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What Makes VAIDHURYA Agentic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D9C84-A9C8-4A03-B7AA-057C7698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The platform does more than search inventory; it interprets intent and curates the best next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B44FB-F3A1-4AC5-AD1F-093F863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3C5DF-F9A8-4FAC-8A15-128360EF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2AB8B-74E9-4D7E-9B8F-4D03C20C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15AB3-F32F-4B8D-836E-CA2C07C2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0935E-0F31-4911-8FEA-B02926B7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46D45-CD5F-4B8F-A12F-3E296C9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1C218-0B31-4841-8B50-7C3BFD21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Understands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2071F-B14F-47AB-8FB9-1A66C82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 customer uploads a dress photo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and the system reads color,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silhouette, neckline, occasion,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and aesthetic cues.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EA54E-6597-4347-ADA6-66D554F9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F9C5C-A819-41EB-BCDA-90F16E1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255CC-71A2-487E-8E20-159AE25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C4B9A-C60A-4659-9692-9AE22D31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3AC80-584B-4380-87B0-92F05359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D1CA8-59FB-48B6-A534-5EC24970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5BF96-7789-438D-A3B1-8739D536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Matches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30A58-5879-4DFD-BA0D-415285D1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Those signals map to category,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metal tone, stone palette,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design language, and price band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across seller inventory.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EA04CD-ACA1-4949-AC42-709CE32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8203D8-C330-482F-9472-4B2C8EB3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0D5AE0-E0D4-461E-9D55-9803CD68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12DEC-670F-41BE-9578-3FAB62E9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B9E133-6561-43C0-8B99-1112B01D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656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B4B31-153D-44EE-ACAB-FDA77901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251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C770A-D3EE-48B1-8E6D-CF5FDD7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Learns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0CF6A2-520A-4E8F-B56B-2D20FB4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Clicks, saves, purchases, 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repeat behavior sharpen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recommendations for shoppers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while improving marketplace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merchandising.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804988-152B-4BF7-ACAB-98236D0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28971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E9EF3-87F9-478A-A221-940C635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E9277-D1A5-4F92-BD09-048D70D7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4EA87-377D-4D03-A56D-E1886CB0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7E8D1-0185-49CE-9786-B8F91694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2705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F5C42-CAB6-47AE-9DE6-AD4DA7D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40993047e4e8d"/>
          <a:srcRect xmlns:a="http://schemas.openxmlformats.org/drawingml/2006/main" l="0" t="20736" r="0" b="20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895350"/>
            <a:ext cx="2552700" cy="18669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5A185-482F-4FEC-ADBE-A9A10253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PRODUCT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AF82-3944-4368-9DD1-917F55E9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04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EA8FA-87AB-4977-9DF5-B44BE9FF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A61DB-A821-4D6A-AAB8-8BE8E2ED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D79F9-A25D-480D-AB1D-1D48479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Full-Stack Product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03F14-E6F5-433C-9E4E-597A786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VAIDHURYA connects premium storefront design, multi-seller commerce, and AI styling in one buyer journey.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F577E-2E0C-436E-B840-DFF6C5B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36B30-8ECA-415E-8A9C-91C33B76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ED50B-C3AD-470C-9E06-4D270DBD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8E2B9-91B9-4CA6-9526-31177112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90D30-201F-4B0D-BC85-AE6F185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E6B08-4C58-4183-BC1E-4BB6AC43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01C70-88A5-4323-A9E7-8850FDE8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Seller Onboarding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E10F5-DE85-40C3-8FBD-68070D32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Sellers register, manage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listings, and showcase metal,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diamond, and gemstone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collections with trust-rich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product detail.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88871-AE59-49F7-9D43-A9D39D67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3DF48-B060-4A1E-A029-06A705ED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B0FCF-0FBA-463C-BF7D-1BDE5C4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00991-4FF6-4232-8585-A0D0D69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6CD39-1A56-48AE-8287-7332D1CB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39554-A766-430D-80FB-BBC8DE66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4AFB5-147F-45A1-97AB-6120E740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Buyer Discovery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051C1-4E4D-4918-9DD8-49A48E9A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Customers browse by category,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occasion, material, style, 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budget while discovering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certified, premium presentation.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30CC9-A988-4083-9E77-77D8FC6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D6CBD-5A11-4078-A53D-18BCACF2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1B0017-C660-422F-9ACD-A0934FDD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FF6DA-7A78-4112-812C-E1CEC46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A43A3-2366-46AB-9629-2C97E77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656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73B917-713E-48CC-AA40-2C3EDDFB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251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B6EB5-F6C0-4A93-A07B-7F19A43A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AI Styling 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0FDBFD-BE53-475A-AF30-2B1DE5D6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Upload a dress photo, receive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curated recommendations, compare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options, and move into cart,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checkout, and order tracking.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A0902C-8CA1-407B-B506-BD0C7BC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1797193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09957-1F2F-4318-83A9-A46D14B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730B-DDC8-490A-9725-29AD51A9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47011-616C-4FF3-8CCE-4FC767AF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D983E-4450-4DDD-809A-87337180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191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F2ED9-55C4-4E5D-B0E9-C3D5082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1915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f4ff7eaf4b19"/>
          <a:srcRect xmlns:a="http://schemas.openxmlformats.org/drawingml/2006/main" l="0" t="11983" r="0" b="11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895350"/>
            <a:ext cx="2305050" cy="17526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8BEA6-0749-417F-B24B-35D96BA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99CA5-1E1E-49BB-954C-59DF5792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05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4B132-74BF-4145-A7CB-98C3754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85C98-E7D8-4268-91EC-1C16A73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92AC4-04CC-48C6-872A-84D7ADA3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Current Traction and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8641C-1499-4B26-8437-1C8C85A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The company is positioned as an early-stage build with a clear product thesis and fundraising-ready narrative.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41F49-D8B5-4ED8-ADE6-67141252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6E996-4976-4FE6-BDDB-EF81411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3D8D1-5B0A-4E7A-8D8B-55F5626E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201A"/>
                </a:solidFill>
              </a:defRPr>
            </a:pPr>
            <a:r>
              <a:rPr sz="2550" b="1">
                <a:solidFill>
                  <a:srgbClr val="2A201A"/>
                </a:solidFill>
              </a:rPr>
              <a:t>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53E0E-5E49-4DD9-A95A-CEC452F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473D"/>
                </a:solidFill>
              </a:defRPr>
            </a:pPr>
            <a:r>
              <a:rPr sz="1200" b="0">
                <a:solidFill>
                  <a:srgbClr val="57473D"/>
                </a:solidFill>
              </a:rPr>
              <a:t>Product concept and premium commerce foundation are already defined.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40DC8-82C2-4E22-91D2-254E2B9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Product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23D7F-2ABC-47AE-A2A9-0BB35DDB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0842C-FB59-44B1-8CBA-2334A92C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BFCEE-7DE6-4A18-87B1-77E7390B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201A"/>
                </a:solidFill>
              </a:defRPr>
            </a:pPr>
            <a:r>
              <a:rPr sz="2550" b="1">
                <a:solidFill>
                  <a:srgbClr val="2A201A"/>
                </a:solidFill>
              </a:rPr>
              <a:t>EARLY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47F66-6FE3-41F0-8F87-1858551C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473D"/>
                </a:solidFill>
              </a:defRPr>
            </a:pPr>
            <a:r>
              <a:rPr sz="1200" b="0">
                <a:solidFill>
                  <a:srgbClr val="57473D"/>
                </a:solidFill>
              </a:rPr>
              <a:t>Validation is focused on seller onboarding, buyer experience, and styling fit.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F9E9A-5086-4997-B35D-0F8F15E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387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Validation stage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48BC-B9F6-4675-AC85-50D72C5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D7C55-1397-47C4-A707-46F6E61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2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61AA4-0B66-4AD8-9FEB-E4ED9902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201A"/>
                </a:solidFill>
              </a:defRPr>
            </a:pPr>
            <a:r>
              <a:rPr sz="2550" b="1">
                <a:solidFill>
                  <a:srgbClr val="2A201A"/>
                </a:solidFill>
              </a:rPr>
              <a:t>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61DDF-40BB-4EED-94E9-B5407D71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473D"/>
                </a:solidFill>
              </a:defRPr>
            </a:pPr>
            <a:r>
              <a:rPr sz="1200" b="0">
                <a:solidFill>
                  <a:srgbClr val="57473D"/>
                </a:solidFill>
              </a:rPr>
              <a:t>Investor outreach can center on product clarity, AI differentiation, and category timing.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E8E45-8269-40C6-A964-EC899A1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Investor readiness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9C6D6-9E82-4736-A21B-438E1648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147068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62A6F-E801-47B7-9747-4CB25423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F7795-EF58-4AFC-B8E8-D0A085E1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6A541-3135-43FD-B25B-832A775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95A6B-7108-403A-80FF-19ABBB5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2705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93C42-2345-4583-987D-6783CA2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167b7c722413e"/>
          <a:srcRect xmlns:a="http://schemas.openxmlformats.org/drawingml/2006/main" l="0" t="25622" r="0" b="25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895350"/>
            <a:ext cx="2552700" cy="18669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94BEA-A600-43F0-A10D-E72E9325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E4B5B-BD12-4C88-94FD-971D28E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06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677E7-C34E-4809-9C49-F7D2D8D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F499F-093E-4645-BBE5-7AEDFA38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9DF7E-CA88-4AEF-A0DB-9185CBA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Built by Founders Focused on Premium 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D0896-B73A-470A-B654-E5230F03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The founding team is shaping VAIDHURYA at the intersection of jewelry commerce, AI-led personalization, and marketplace execution.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DA845-FCF9-4EAF-A095-C630012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EA213-FB66-4D97-87FB-FBEAC01F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262AB-483E-4D6D-A2B8-C8BA6D2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52F98-813D-4A73-B105-B95394DA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316D7-DE53-495D-9BB6-DD58712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14498-3B41-4476-9A0D-13E0766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2AA60-8A69-4674-A454-6E42405E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Venkatesha 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5C4CE-F962-4D0C-AFA9-81D6719C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Co-founder driving product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vision, marketplace execution,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and the customer experience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needed to modernize jewelry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buying in India.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49CC8-D114-4C1C-8F37-78760457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63351-B4DE-4074-93D4-3F99C30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53D72-EF7E-484F-987F-E6E1650B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3840A-DD90-4654-974C-CF1BB152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99BAB-9A1B-4C7C-8245-BFB6529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6AAD6-9D6E-47B0-ADF2-B8E9F2A5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3AA4C-E0CB-4C0D-AB72-4E84EE6F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Rishitha Adari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A3293-A746-42DD-B340-E9772175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Co-founder shaping brand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direction, business build-out,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and the premium trust layer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needed to attract sellers 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shoppers.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A739A-62F3-45FD-B9F6-54BD2260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3F2C4-EEE0-494A-BE7F-C9E898AD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C17C0-48B5-4B51-8DFD-98EED444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7F89A7-C0B1-4D8D-A540-87E88F3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CF31C9-6266-4951-83BA-EB9B5665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656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7E403F-8D41-4CED-9A98-D4986235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251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8DEF5-1EC2-4A89-917D-6527BDB6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Why This Team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CF4671-05E6-4981-A65E-3FDC35CA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Execution-first founders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building a trusted commerce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brand with AI-native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personalization as the product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differentiator.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27690A-BC9A-4B46-93DE-B9F8756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1022618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F43E-04AA-48F8-8D2C-64369E0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A900A-0AB3-4038-A3B4-EE63B972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B3EDD-A4C6-4574-8E7D-87B65CA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7EE8B-7B27-4E24-B3C9-17E3108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2705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729ED-FEEA-4581-8A88-947B857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c7c403fbe4e23"/>
          <a:srcRect xmlns:a="http://schemas.openxmlformats.org/drawingml/2006/main" l="0" t="25622" r="0" b="25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895350"/>
            <a:ext cx="2552700" cy="18669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77B13-2924-4C58-B002-0B060E9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BUSINESS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1F2A7-FADD-4C39-A37F-02869E50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07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133B9-94FC-4D36-9BB8-7DBCE8EF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EE55E-4F65-4995-806F-4ACDBBC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906EB-290C-44D2-8CF7-6EA14A8C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Multiple Monetization Layers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862DF-DD9E-41D7-94B5-946787C8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VAIDHURYA is structured to capture transaction revenue, recurring seller revenue, and platform service upside.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F13FC-CDB3-41A2-8F1C-241D3A2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D84A2-3BA9-488C-9AC7-47F6B2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1D9DC-512F-4373-97B1-2FAFD8A3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817F9-146A-478E-A2DD-3922446E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61FA2-AACC-4878-85F4-E7E3507A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78E0B-2BCC-4616-BA7C-87181AEB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7305B-A014-42C2-8136-A978797F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Marketplace Take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E93DE-23C4-4ED1-9191-0FCBCCF8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Commission on every completed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transaction across metal,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diamond, and gemstone jewelry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sold on the platform.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CEA81-F461-4ABC-A8FE-A8F4E27F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3E075-CA17-437F-8853-F0EEAE82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CFD3C-919D-4476-8D85-FB5088E7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B4FE1-3CED-4CA1-A73C-F2EBCDB3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EFFBE-0CA6-4A2D-B455-C5DAFE4A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21143-CACF-4878-8FC3-AD419FC4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B2BE2-1DE6-47D3-B3C1-B894F82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Seller Revenue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9D1AA-58FA-4597-979B-AB59166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Premium storefront plans,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merchandising tools, 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optional visibility boosts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create recurring platform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revenue.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847983-0F3F-4CB9-B320-9B0BF79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5FD6B-0927-4A72-9273-052D6CA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C10B7-E94E-4FD4-B189-837BCB82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9419E-D895-4AAA-A83A-7950F29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180F8-DB4A-465F-B23C-4EBDEFB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656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2BD5FD-25AF-473C-9329-DB5618F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251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EC5C1F-1A62-4D44-B79C-C1539035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Value-Added Services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F3D972-F3CC-4673-9A82-058AF69F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Catalog support, certification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assistance, content creation,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and future logistics enablement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deepen monetization over time.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8170D8-AFA6-4660-AB05-563330A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866860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AFFE-A9B6-4B7C-A3B3-CD84023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5743-7E57-4E94-8900-F6529DA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C7E50-2D28-472F-B585-AD79EE22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54068-7621-45F6-B9BA-DE37E355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2705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2BCB0-66BE-4CB0-8AD0-F60863CC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1915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a40cb7d764dca"/>
          <a:srcRect xmlns:a="http://schemas.openxmlformats.org/drawingml/2006/main" l="0" t="25622" r="0" b="25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895350"/>
            <a:ext cx="2552700" cy="18669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42F8E-4202-42D5-B60C-3E5AD0D6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TECH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6E394-2325-4E61-BBF2-1CCE4B0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08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F56C0-EF02-483C-90C0-ED3B287D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AAFBF-3613-4CB4-B0F9-013D9994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38102-3114-400C-BAE0-2FA2E9A5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Built for Scale with Claude and AWS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8DC3E-355D-49B6-A7C2-2BB6A1D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The platform combines premium commerce infrastructure with an AI layer designed for personalization and operational leverage.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63E0A-24F7-4CC5-9913-975B1585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523C7-5376-48D3-9367-3463BF95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1A323-099E-42E1-BE41-7C27AED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FFB02-10F7-42B0-8249-6103C6C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2C080-0423-46F3-A5FD-F58DE81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24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01A89-C456-4642-94EA-CC75FFE5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B96E8-295C-4E28-9A81-48CA2300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Commerce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B877E-3C99-4D8E-9754-9DDCBC41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Next.js and React power a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premium storefront, seller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workflows, cart, checkout,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tracking, and content-managed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merchandising.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DE140-6347-4ABE-8A78-A14041DD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CB46E-EC75-444A-A00C-7E256292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F0F2D-8C33-4C28-8CB3-D26120DE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CD271-9EAD-4024-A758-A0EC3E4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8FBC3-5FDF-4489-944A-976117AA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0A7C55-F9C7-4475-A956-0615CDE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62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C0DF0-8EBF-42FB-BF05-6C91F1D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Claude +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0AEA00-78A6-4DC2-89CB-8AE237BB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Claude is planned for catalog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enrichment, listing assistance,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style reasoning, and support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workflows around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personalization.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B16A1-8145-4868-9BEF-3AA65B0A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20DA5-117C-401C-A587-C52F37A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957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C05832-EF5C-47D3-BC23-9D2A0EE5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0BB72-B1DC-42CA-AF61-E93BE39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67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B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5EB34-1744-43C3-AA52-02315C90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52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9656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19167-FDDA-46BC-B7D4-999F0FC9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38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251"/>
          </a:solidFill>
          <a:ln xmlns:a="http://schemas.openxmlformats.org/drawingml/2006/main" w="9525">
            <a:solidFill>
              <a:srgbClr val="2A20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FFE626-5C11-47E9-B480-8E8B036D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052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4D36"/>
                </a:solidFill>
              </a:defRPr>
            </a:pPr>
            <a:r>
              <a:rPr sz="1125" b="1">
                <a:solidFill>
                  <a:srgbClr val="0A4D36"/>
                </a:solidFill>
              </a:rPr>
              <a:t>AWS Backbone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D0B02A-CEF7-4559-9CEE-A11727A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AWS supports storage, compute,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scalability, and orchestration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for uploads, media,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recommendation flows, and</a:t>
            </a:r>
          </a:p>
          <a:p xmlns:a="http://schemas.openxmlformats.org/drawingml/2006/main">
            <a:pPr algn="l">
              <a:defRPr sz="1200" b="0">
                <a:solidFill>
                  <a:srgbClr val="2A201A"/>
                </a:solidFill>
              </a:defRPr>
            </a:pPr>
            <a:r>
              <a:rPr sz="1200" b="0">
                <a:solidFill>
                  <a:srgbClr val="2A201A"/>
                </a:solidFill>
              </a:rPr>
              <a:t>platform operations.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3436AF-7956-4694-8F57-1239EA5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1118758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178D9D-0FCA-44C8-BD28-24302B8E8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FE8B3-032E-4305-BE33-60FD8A71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3657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D9BA2-D3E2-4B37-9DA3-90B157FC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476750"/>
            <a:ext cx="34290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66AD-C5E5-47FD-BF09-E85B08D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857250"/>
            <a:ext cx="3048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EB1BA-FB3F-4DBD-BCEE-1C2C336F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191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98490-42F5-4D77-870E-F0886EE8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1915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f810f96b043d5"/>
          <a:srcRect xmlns:a="http://schemas.openxmlformats.org/drawingml/2006/main" l="0" t="11983" r="0" b="11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895350"/>
            <a:ext cx="2305050" cy="17526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EC217-23BF-4684-9478-ACF63A39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FUNDRAISING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97A96-E984-4838-B74D-7BB1FA21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A4D36"/>
                </a:solidFill>
              </a:defRPr>
            </a:pPr>
            <a:r>
              <a:rPr sz="975" b="1">
                <a:solidFill>
                  <a:srgbClr val="0A4D36"/>
                </a:solidFill>
              </a:rPr>
              <a:t>09 /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50DED-09AB-429C-9D96-77CDD6E5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215F2-42D1-4536-8940-E2210D0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19050">
            <a:solidFill>
              <a:srgbClr val="2A20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175F2-68B0-4B9E-8F9C-CE4456D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01A"/>
                </a:solidFill>
              </a:defRPr>
            </a:pPr>
            <a:r>
              <a:rPr sz="3000" b="1">
                <a:solidFill>
                  <a:srgbClr val="2A201A"/>
                </a:solidFill>
              </a:rPr>
              <a:t>Fundraising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EC158-2F21-4130-883A-2C13F69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473D"/>
                </a:solidFill>
              </a:defRPr>
            </a:pPr>
            <a:r>
              <a:rPr sz="1425" b="0">
                <a:solidFill>
                  <a:srgbClr val="57473D"/>
                </a:solidFill>
              </a:rPr>
              <a:t>Capital will accelerate product development, AI recommendations, seller acquisition, and marketplace launch readiness.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1A5F-A2F6-4625-B453-9E3E126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76085-64D3-47CE-92F6-30BC764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5FF37-6CAC-4497-9A61-70D6DF6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201A"/>
                </a:solidFill>
              </a:defRPr>
            </a:pPr>
            <a:r>
              <a:rPr sz="2550" b="1">
                <a:solidFill>
                  <a:srgbClr val="2A201A"/>
                </a:solidFill>
              </a:rPr>
              <a:t>PRE-SEED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3E27B-116B-4E12-BFE8-8369EA6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473D"/>
                </a:solidFill>
              </a:defRPr>
            </a:pPr>
            <a:r>
              <a:rPr sz="1200" b="0">
                <a:solidFill>
                  <a:srgbClr val="57473D"/>
                </a:solidFill>
              </a:rPr>
              <a:t>Fundraising stage focused on building the category-defining jewelry marketplace.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57F5A-599C-4CD9-A342-8D7C874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Open investor 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572AC-8B1A-4892-9514-DD180E62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34707-D017-421B-A9CA-F44AE688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8DE8A-7609-403A-A138-66B0E5A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201A"/>
                </a:solidFill>
              </a:defRPr>
            </a:pPr>
            <a:r>
              <a:rPr sz="2550" b="1">
                <a:solidFill>
                  <a:srgbClr val="2A201A"/>
                </a:solidFill>
              </a:rPr>
              <a:t>AI + GTM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C8929-E953-4B14-B7F2-427BAF75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473D"/>
                </a:solidFill>
              </a:defRPr>
            </a:pPr>
            <a:r>
              <a:rPr sz="1200" b="0">
                <a:solidFill>
                  <a:srgbClr val="57473D"/>
                </a:solidFill>
              </a:rPr>
              <a:t>Primary use of funds across product, recommendation engine, seller onboarding, and customer growth.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F33C8-E2D2-4546-A165-B24E129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387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Use of funds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DBC84-323D-40E3-A65B-BC8B337F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7EF">
              <a:alpha val="94902"/>
            </a:srgbClr>
          </a:solidFill>
          <a:ln xmlns:a="http://schemas.openxmlformats.org/drawingml/2006/main" w="11430">
            <a:solidFill>
              <a:srgbClr val="2A20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DEC17-42E1-4A9A-AD5A-2D04BB8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2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B0481-3841-4355-8209-2CA659A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201A"/>
                </a:solidFill>
              </a:defRPr>
            </a:pPr>
            <a:r>
              <a:rPr sz="2550" b="1">
                <a:solidFill>
                  <a:srgbClr val="2A201A"/>
                </a:solidFill>
              </a:rPr>
              <a:t>V1 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B4108B-FEC2-4B4B-8F92-03673A1F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473D"/>
                </a:solidFill>
              </a:defRPr>
            </a:pPr>
            <a:r>
              <a:rPr sz="1200" b="0">
                <a:solidFill>
                  <a:srgbClr val="57473D"/>
                </a:solidFill>
              </a:rPr>
              <a:t>Next milestone: launch with live sellers and an outfit-led recommendation experience.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55477-3740-48EB-9818-F6D6674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Execution milestone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5C955-D7D5-4AD3-BE9C-088B5BDA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7B70"/>
                </a:solidFill>
              </a:defRPr>
            </a:pPr>
            <a:r>
              <a:rPr sz="750" b="0">
                <a:solidFill>
                  <a:srgbClr val="8A7B70"/>
                </a:solidFill>
              </a:rPr>
              <a:t>Confidential | VAIDHURYA</a:t>
            </a:r>
          </a:p>
        </p:txBody>
      </p:sp>
    </p:spTree>
    <p:extLst>
      <p:ext uri="{BB962C8B-B14F-4D97-AF65-F5344CB8AC3E}">
        <p14:creationId xmlns:p14="http://schemas.microsoft.com/office/powerpoint/2010/main" val="530673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2026-05-21T08:20:49.7870000Z</dcterms:created>
  <dcterms:modified xsi:type="dcterms:W3CDTF">2026-05-21T08:20:49.7870000Z</dcterms:modified>
</coreProperties>
</file>